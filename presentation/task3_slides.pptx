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YOLOv8n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mAP@0.5</c:v>
                  </c:pt>
                  <c:pt idx="1">
                    <c:v>mAP@0.5:0.95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0.92</c:v>
                </c:pt>
                <c:pt idx="1">
                  <c:v>0.7654</c:v>
                </c:pt>
                <c:pt idx="2">
                  <c:v>0.795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DETR-R50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mAP@0.5</c:v>
                  </c:pt>
                  <c:pt idx="1">
                    <c:v>mAP@0.5:0.95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0.1573</c:v>
                </c:pt>
                <c:pt idx="1">
                  <c:v>0.1104</c:v>
                </c:pt>
                <c:pt idx="2">
                  <c:v>0.2466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3: Ball Detection and Pool-Table Retrieval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Notebook goal: detect the physical pool balls and retrieve the most similar table state from the training set.</a:t>
            </a:r>
            <a:endParaRPr lang="en-US" sz="960" dirty="0"/>
          </a:p>
        </p:txBody>
      </p:sp>
      <p:pic>
        <p:nvPicPr>
          <p:cNvPr id="4" name="Image 0" descr="/mnt/data/notebook_imgs/cell013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9362" y="1078992"/>
            <a:ext cx="4180677" cy="2395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Dataset and evaluation setup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76656" y="1627632"/>
            <a:ext cx="5212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Source: Roboflow Universe 8-Ball Pool dataset, published by BachelorThesis.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76656" y="2048256"/>
            <a:ext cx="5120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E7C86"/>
                </a:solidFill>
              </a:rPr>
              <a:t>• </a:t>
            </a:r>
            <a:pPr indent="0" marL="0">
              <a:buNone/>
            </a:pPr>
            <a:r>
              <a:rPr lang="en-US" sz="1070" dirty="0">
                <a:solidFill>
                  <a:srgbClr val="102033"/>
                </a:solidFill>
              </a:rPr>
              <a:t>247 annotated images in YOLO format, under a CC BY 4.0 license.</a:t>
            </a:r>
            <a:endParaRPr lang="en-US" sz="1070" dirty="0"/>
          </a:p>
        </p:txBody>
      </p:sp>
      <p:sp>
        <p:nvSpPr>
          <p:cNvPr id="8" name="Text 5"/>
          <p:cNvSpPr/>
          <p:nvPr/>
        </p:nvSpPr>
        <p:spPr>
          <a:xfrm>
            <a:off x="676656" y="2359152"/>
            <a:ext cx="5029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102033"/>
                </a:solidFill>
              </a:rPr>
              <a:t>Split: 197 training, 24 validation, 26 test images.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76656" y="2688336"/>
            <a:ext cx="5212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E7C86"/>
                </a:solidFill>
              </a:rPr>
              <a:t>• </a:t>
            </a:r>
            <a:pPr indent="0" marL="0">
              <a:buNone/>
            </a:pPr>
            <a:r>
              <a:rPr lang="en-US" sz="1060" dirty="0">
                <a:solidFill>
                  <a:srgbClr val="102033"/>
                </a:solidFill>
              </a:rPr>
              <a:t>Physical classes: Black, Cue, Solid, Striped; Dot is ignored because it is not an independent ball.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658368" y="3675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Notebook pipeline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4944" y="4059936"/>
            <a:ext cx="5074920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02033"/>
                </a:solidFill>
              </a:rPr>
              <a:t>1. Train YOLOv8n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02033"/>
                </a:solidFill>
              </a:rPr>
              <a:t>2. Compare YOLOv8n with DETR-ResNet50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02033"/>
                </a:solidFill>
              </a:rPr>
              <a:t>3. Evaluate detection and count-level errors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02033"/>
                </a:solidFill>
              </a:rPr>
              <a:t>4. Retrieve tables using top-view + CLIP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02033"/>
                </a:solidFill>
              </a:rPr>
              <a:t>5. Use a ball-layout fallback when top-view fails</a:t>
            </a:r>
            <a:endParaRPr lang="en-US" sz="1210" dirty="0"/>
          </a:p>
        </p:txBody>
      </p:sp>
      <p:sp>
        <p:nvSpPr>
          <p:cNvPr id="12" name="Text 9"/>
          <p:cNvSpPr/>
          <p:nvPr/>
        </p:nvSpPr>
        <p:spPr>
          <a:xfrm>
            <a:off x="6528816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Core idea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28816" y="4133088"/>
            <a:ext cx="4892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033"/>
                </a:solidFill>
              </a:rPr>
              <a:t>Separate the task into robust ball detection and table-state comparison.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47104" y="4992624"/>
            <a:ext cx="47548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YOLOv8n is the main detector because it is lightweight and works well with a small dataset and small objects. Retrieval is improved by comparing normalized table views instead of full camera images.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37960" y="596188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0F2FE"/>
          </a:solidFill>
          <a:ln w="12700">
            <a:solidFill>
              <a:srgbClr val="BAE6FD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92824" y="6035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E7C86"/>
                </a:solidFill>
              </a:rPr>
              <a:t>Detection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790688" y="596188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0F2FE"/>
          </a:solidFill>
          <a:ln w="12700">
            <a:solidFill>
              <a:srgbClr val="BAE6FD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45552" y="6035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E7C86"/>
                </a:solidFill>
              </a:rPr>
              <a:t>Counting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9043416" y="596188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0F2FE"/>
          </a:solidFill>
          <a:ln w="12700">
            <a:solidFill>
              <a:srgbClr val="BAE6FD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98280" y="6035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E7C86"/>
                </a:solidFill>
              </a:rPr>
              <a:t>Retrieval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10296144" y="596188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0F2FE"/>
          </a:solidFill>
          <a:ln w="12700">
            <a:solidFill>
              <a:srgbClr val="BAE6FD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51008" y="6035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E7C86"/>
                </a:solidFill>
              </a:rPr>
              <a:t>Fallback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65196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Computer Vision project - Task 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Results: YOLOv8n Is the Clear Choice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Report-aligned test results after removing the Dot class from evaluation.</a:t>
            </a:r>
            <a:endParaRPr lang="en-US" sz="960" dirty="0"/>
          </a:p>
        </p:txBody>
      </p:sp>
      <p:pic>
        <p:nvPicPr>
          <p:cNvPr id="4" name="Image 0" descr="/mnt/data/notebook_imgs/cell043_out2.png">    </p:cNvPr>
          <p:cNvPicPr>
            <a:picLocks noChangeAspect="1"/>
          </p:cNvPicPr>
          <p:nvPr/>
        </p:nvPicPr>
        <p:blipFill>
          <a:blip r:embed="rId1"/>
          <a:srcRect l="0" r="0" t="10088" b="10088"/>
          <a:stretch/>
        </p:blipFill>
        <p:spPr>
          <a:xfrm>
            <a:off x="502920" y="1188720"/>
            <a:ext cx="4526280" cy="2148840"/>
          </a:xfrm>
          <a:prstGeom prst="rect">
            <a:avLst/>
          </a:prstGeom>
        </p:spPr>
      </p:pic>
      <p:pic>
        <p:nvPicPr>
          <p:cNvPr id="5" name="Image 1" descr="/mnt/data/notebook_imgs/cell045_out2.png">    </p:cNvPr>
          <p:cNvPicPr>
            <a:picLocks noChangeAspect="1"/>
          </p:cNvPicPr>
          <p:nvPr/>
        </p:nvPicPr>
        <p:blipFill>
          <a:blip r:embed="rId2"/>
          <a:srcRect l="0" r="0" t="14334" b="14334"/>
          <a:stretch/>
        </p:blipFill>
        <p:spPr>
          <a:xfrm>
            <a:off x="502920" y="3822192"/>
            <a:ext cx="4526280" cy="1920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4015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Low count-error example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12064" y="57972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Higher error example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53212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</a:rPr>
              <a:t>Localization metrics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504688" y="1408176"/>
            <a:ext cx="2788920" cy="1298448"/>
          </a:xfrm>
          <a:prstGeom prst="roundRect">
            <a:avLst>
              <a:gd name="adj" fmla="val 4225"/>
            </a:avLst>
          </a:prstGeom>
          <a:solidFill>
            <a:srgbClr val="F0FDFA"/>
          </a:solidFill>
          <a:ln w="12700">
            <a:solidFill>
              <a:srgbClr val="99F6E4">
                <a:alpha val="8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0" y="1581912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6"/>
                </a:solidFill>
              </a:rPr>
              <a:t>0.920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623560" y="2039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mAP@0.5</a:t>
            </a:r>
            <a:endParaRPr lang="en-US" sz="840" dirty="0"/>
          </a:p>
        </p:txBody>
      </p:sp>
      <p:sp>
        <p:nvSpPr>
          <p:cNvPr id="12" name="Text 8"/>
          <p:cNvSpPr/>
          <p:nvPr/>
        </p:nvSpPr>
        <p:spPr>
          <a:xfrm>
            <a:off x="6931152" y="1581912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6"/>
                </a:solidFill>
              </a:rPr>
              <a:t>0.765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885432" y="2039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mAP@0.5:0.95</a:t>
            </a:r>
            <a:endParaRPr lang="en-US" sz="840" dirty="0"/>
          </a:p>
        </p:txBody>
      </p:sp>
      <p:sp>
        <p:nvSpPr>
          <p:cNvPr id="14" name="Text 10"/>
          <p:cNvSpPr/>
          <p:nvPr/>
        </p:nvSpPr>
        <p:spPr>
          <a:xfrm>
            <a:off x="5760720" y="235915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033"/>
                </a:solidFill>
              </a:rPr>
              <a:t>Recall: 0.795</a:t>
            </a:r>
            <a:endParaRPr lang="en-US" sz="930" dirty="0"/>
          </a:p>
        </p:txBody>
      </p:sp>
      <p:sp>
        <p:nvSpPr>
          <p:cNvPr id="15" name="Text 11"/>
          <p:cNvSpPr/>
          <p:nvPr/>
        </p:nvSpPr>
        <p:spPr>
          <a:xfrm>
            <a:off x="864108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</a:rPr>
              <a:t>Count-level metrics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613648" y="1408176"/>
            <a:ext cx="2788920" cy="1298448"/>
          </a:xfrm>
          <a:prstGeom prst="roundRect">
            <a:avLst>
              <a:gd name="adj" fmla="val 4225"/>
            </a:avLst>
          </a:prstGeom>
          <a:solidFill>
            <a:srgbClr val="EFF6FF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796528" y="1581912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6"/>
                </a:solidFill>
              </a:rPr>
              <a:t>0.539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750808" y="2039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Count MAE</a:t>
            </a:r>
            <a:endParaRPr lang="en-US" sz="840" dirty="0"/>
          </a:p>
        </p:txBody>
      </p:sp>
      <p:sp>
        <p:nvSpPr>
          <p:cNvPr id="19" name="Text 15"/>
          <p:cNvSpPr/>
          <p:nvPr/>
        </p:nvSpPr>
        <p:spPr>
          <a:xfrm>
            <a:off x="10040112" y="1581912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6"/>
                </a:solidFill>
              </a:rPr>
              <a:t>69.2%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9994392" y="2039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Exact count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8878824" y="235915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033"/>
                </a:solidFill>
              </a:rPr>
              <a:t>Within ±1: 88.5%</a:t>
            </a:r>
            <a:endParaRPr lang="en-US" sz="930" dirty="0"/>
          </a:p>
        </p:txBody>
      </p:sp>
      <p:sp>
        <p:nvSpPr>
          <p:cNvPr id="22" name="Text 18"/>
          <p:cNvSpPr/>
          <p:nvPr/>
        </p:nvSpPr>
        <p:spPr>
          <a:xfrm>
            <a:off x="5532120" y="2944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YOLOv8n vs DETR-ResNet50</a:t>
            </a:r>
            <a:endParaRPr lang="en-US" sz="12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532120" y="3246120"/>
          <a:ext cx="5897880" cy="13167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 19"/>
          <p:cNvSpPr/>
          <p:nvPr/>
        </p:nvSpPr>
        <p:spPr>
          <a:xfrm>
            <a:off x="5532120" y="4800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Why DETR underperformed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532120" y="5138928"/>
            <a:ext cx="585216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DETR-ResNet50 struggled with calibration on this small dataset: at lower thresholds it over-predicted, and at higher thresholds it missed most detections. The report concludes that YOLOv8n is better adapted to small, clustered pool balls.</a:t>
            </a:r>
            <a:endParaRPr lang="en-US" sz="1120" dirty="0"/>
          </a:p>
        </p:txBody>
      </p:sp>
      <p:sp>
        <p:nvSpPr>
          <p:cNvPr id="26" name="Shape 21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30352" y="65196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Main result: YOLOv8n outperforms DETR-ResNet50 in localization and count-level metrics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Retrieval: Comparing Table States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HSV and CNN embeddings are useful baselines; the strongest method uses top-view CLIP with a count penalty.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557784" y="1042416"/>
            <a:ext cx="42062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retrieval_panels/hs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078992"/>
            <a:ext cx="3008376" cy="932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048256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033"/>
                </a:solidFill>
              </a:rPr>
              <a:t>HSV histogram baseline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557784" y="2322576"/>
            <a:ext cx="42062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pic>
        <p:nvPicPr>
          <p:cNvPr id="8" name="Image 1" descr="/mnt/data/retrieval_panels/resnet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2359152"/>
            <a:ext cx="3008376" cy="9326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3328416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033"/>
                </a:solidFill>
              </a:rPr>
              <a:t>ResNet18 / CNN embedding</a:t>
            </a:r>
            <a:endParaRPr lang="en-US" sz="880" dirty="0"/>
          </a:p>
        </p:txBody>
      </p:sp>
      <p:sp>
        <p:nvSpPr>
          <p:cNvPr id="10" name="Shape 6"/>
          <p:cNvSpPr/>
          <p:nvPr/>
        </p:nvSpPr>
        <p:spPr>
          <a:xfrm>
            <a:off x="557784" y="3602736"/>
            <a:ext cx="42062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/mnt/data/retrieval_panels/topview_cl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3639312"/>
            <a:ext cx="3008376" cy="9326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" y="4608576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033"/>
                </a:solidFill>
              </a:rPr>
              <a:t>Top-view CLIP</a:t>
            </a:r>
            <a:endParaRPr lang="en-US" sz="880" dirty="0"/>
          </a:p>
        </p:txBody>
      </p:sp>
      <p:sp>
        <p:nvSpPr>
          <p:cNvPr id="13" name="Shape 8"/>
          <p:cNvSpPr/>
          <p:nvPr/>
        </p:nvSpPr>
        <p:spPr>
          <a:xfrm>
            <a:off x="557784" y="4882896"/>
            <a:ext cx="42062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pic>
        <p:nvPicPr>
          <p:cNvPr id="14" name="Image 3" descr="/mnt/data/retrieval_panels/ball_layo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" y="4919472"/>
            <a:ext cx="3008376" cy="9326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4360" y="5888736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033"/>
                </a:solidFill>
              </a:rPr>
              <a:t>Ball-layout fallback</a:t>
            </a:r>
            <a:endParaRPr lang="en-US" sz="880" dirty="0"/>
          </a:p>
        </p:txBody>
      </p:sp>
      <p:sp>
        <p:nvSpPr>
          <p:cNvPr id="16" name="Text 10"/>
          <p:cNvSpPr/>
          <p:nvPr/>
        </p:nvSpPr>
        <p:spPr>
          <a:xfrm>
            <a:off x="5230368" y="1078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Baselines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5248656" y="1417320"/>
            <a:ext cx="29718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HSV histogram compares global color distributions. It is simple and explainable, but sensitive to lighting, background and overlays.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ResNet18/CNN embedding captures more scene structure, but still compares the full camera view rather than only the ball arrangement.</a:t>
            </a:r>
            <a:endParaRPr lang="en-US" sz="960" dirty="0"/>
          </a:p>
        </p:txBody>
      </p:sp>
      <p:sp>
        <p:nvSpPr>
          <p:cNvPr id="18" name="Text 12"/>
          <p:cNvSpPr/>
          <p:nvPr/>
        </p:nvSpPr>
        <p:spPr>
          <a:xfrm>
            <a:off x="5230368" y="3310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Main method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248656" y="3648456"/>
            <a:ext cx="297180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Top-view normalization reduces viewpoint and background variation. CLIP retrieves visually similar normalized table states, while the count penalty discourages matches with different numbers of balls.</a:t>
            </a:r>
            <a:endParaRPr lang="en-US" sz="970" dirty="0"/>
          </a:p>
        </p:txBody>
      </p:sp>
      <p:sp>
        <p:nvSpPr>
          <p:cNvPr id="20" name="Text 14"/>
          <p:cNvSpPr/>
          <p:nvPr/>
        </p:nvSpPr>
        <p:spPr>
          <a:xfrm>
            <a:off x="5230368" y="5029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Fallback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5248656" y="5367528"/>
            <a:ext cx="29718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If top-view quality is rejected, YOLOv8n detects ball centers in the original image and converts them into table-relative positions for retrieval.</a:t>
            </a:r>
            <a:endParaRPr lang="en-US" sz="970" dirty="0"/>
          </a:p>
        </p:txBody>
      </p:sp>
      <p:sp>
        <p:nvSpPr>
          <p:cNvPr id="22" name="Text 16"/>
          <p:cNvSpPr/>
          <p:nvPr/>
        </p:nvSpPr>
        <p:spPr>
          <a:xfrm>
            <a:off x="854964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0E7C86"/>
                </a:solidFill>
              </a:rPr>
              <a:t>Score formula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8522208" y="1417320"/>
            <a:ext cx="31272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 19"/>
          <p:cNvSpPr/>
          <p:nvPr/>
        </p:nvSpPr>
        <p:spPr>
          <a:xfrm>
            <a:off x="8558784" y="2331720"/>
            <a:ext cx="2971800" cy="303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869"/>
              <a:t>• q: query image.</a:t>
            </a:r>
            <a:endParaRPr lang="en-US" sz="890" dirty="0"/>
          </a:p>
        </p:txBody>
      </p:sp>
      <p:sp>
        <p:nvSpPr>
          <p:cNvPr id="26" name="Text 20"/>
          <p:cNvSpPr/>
          <p:nvPr/>
        </p:nvSpPr>
        <p:spPr>
          <a:xfrm>
            <a:off x="8558784" y="2770632"/>
            <a:ext cx="2971800" cy="303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869"/>
              <a:t>• i: candidate image in the retrieval database.</a:t>
            </a:r>
            <a:endParaRPr lang="en-US" sz="890" dirty="0"/>
          </a:p>
        </p:txBody>
      </p:sp>
      <p:sp>
        <p:nvSpPr>
          <p:cNvPr id="27" name="Text 21"/>
          <p:cNvSpPr/>
          <p:nvPr/>
        </p:nvSpPr>
        <p:spPr>
          <a:xfrm>
            <a:off x="8558784" y="3209544"/>
            <a:ext cx="2971800" cy="4485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869"/>
              <a:t>• sim_CLIP(q, i): CLIP cosine similarity; higher means more visually similar table states.</a:t>
            </a:r>
            <a:endParaRPr lang="en-US" sz="890" dirty="0"/>
          </a:p>
        </p:txBody>
      </p:sp>
      <p:sp>
        <p:nvSpPr>
          <p:cNvPr id="28" name="Text 22"/>
          <p:cNvSpPr/>
          <p:nvPr/>
        </p:nvSpPr>
        <p:spPr>
          <a:xfrm>
            <a:off x="8558784" y="3867912"/>
            <a:ext cx="2971800" cy="361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869"/>
              <a:t>• c_q, c_i: estimated ball counts for query and candidate.</a:t>
            </a:r>
            <a:endParaRPr lang="en-US" sz="890" dirty="0"/>
          </a:p>
        </p:txBody>
      </p:sp>
      <p:sp>
        <p:nvSpPr>
          <p:cNvPr id="29" name="Text 23"/>
          <p:cNvSpPr/>
          <p:nvPr/>
        </p:nvSpPr>
        <p:spPr>
          <a:xfrm>
            <a:off x="8558784" y="4370832"/>
            <a:ext cx="2971800" cy="3762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869"/>
              <a:t>• |c_q − c_i|: absolute count difference; penalizes mismatched game states.</a:t>
            </a:r>
            <a:endParaRPr lang="en-US" sz="890" dirty="0"/>
          </a:p>
        </p:txBody>
      </p:sp>
      <p:sp>
        <p:nvSpPr>
          <p:cNvPr id="30" name="Text 24"/>
          <p:cNvSpPr/>
          <p:nvPr/>
        </p:nvSpPr>
        <p:spPr>
          <a:xfrm>
            <a:off x="8558784" y="4901184"/>
            <a:ext cx="2971800" cy="40514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pPr indent="0" marL="0">
              <a:buNone/>
            </a:pPr>
            <a:r>
              <a:rPr sz="869"/>
              <a:t>• α: penalty strength; larger α gives more weight to matching counts.</a:t>
            </a:r>
            <a:endParaRPr lang="en-US" sz="890" dirty="0"/>
          </a:p>
        </p:txBody>
      </p:sp>
      <p:sp>
        <p:nvSpPr>
          <p:cNvPr id="31" name="Shape 25"/>
          <p:cNvSpPr/>
          <p:nvPr/>
        </p:nvSpPr>
        <p:spPr>
          <a:xfrm>
            <a:off x="8522208" y="5650992"/>
            <a:ext cx="3127248" cy="475488"/>
          </a:xfrm>
          <a:prstGeom prst="roundRect">
            <a:avLst>
              <a:gd name="adj" fmla="val 11538"/>
            </a:avLst>
          </a:prstGeom>
          <a:solidFill>
            <a:srgbClr val="E0F2FE"/>
          </a:solidFill>
          <a:ln w="12700">
            <a:solidFill>
              <a:srgbClr val="BAE6FD">
                <a:alpha val="80000"/>
              </a:srgbClr>
            </a:solidFill>
            <a:prstDash val="solid"/>
          </a:ln>
        </p:spPr>
        <p:txBody>
          <a:bodyPr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 26"/>
          <p:cNvSpPr/>
          <p:nvPr/>
        </p:nvSpPr>
        <p:spPr>
          <a:xfrm>
            <a:off x="8622792" y="579729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830"/>
              <a:t>Final ranking = visual similarity − count mismatch.</a:t>
            </a:r>
            <a:endParaRPr lang="en-US" sz="860" dirty="0"/>
          </a:p>
        </p:txBody>
      </p:sp>
      <p:sp>
        <p:nvSpPr>
          <p:cNvPr id="33" name="Shape 27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530352" y="65196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Final message: detector + normalized retrieval + robust fallback</a:t>
            </a:r>
            <a:endParaRPr lang="en-US" sz="750" dirty="0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3376" y="1572768"/>
            <a:ext cx="2724912" cy="4392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3 - Ball Detection and Pool-Table Retrieval</dc:title>
  <dc:subject>Task 3 notebook presentation</dc:subject>
  <dc:creator>OpenAI</dc:creator>
  <cp:lastModifiedBy>OpenAI</cp:lastModifiedBy>
  <cp:revision>1</cp:revision>
  <dcterms:created xsi:type="dcterms:W3CDTF">2026-06-26T19:28:37Z</dcterms:created>
  <dcterms:modified xsi:type="dcterms:W3CDTF">2026-06-26T19:28:37Z</dcterms:modified>
</cp:coreProperties>
</file>